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65" r:id="rId3"/>
    <p:sldId id="268" r:id="rId4"/>
    <p:sldId id="258" r:id="rId5"/>
    <p:sldId id="257" r:id="rId6"/>
    <p:sldId id="261" r:id="rId7"/>
    <p:sldId id="263" r:id="rId8"/>
    <p:sldId id="262" r:id="rId9"/>
    <p:sldId id="260" r:id="rId10"/>
    <p:sldId id="267" r:id="rId11"/>
    <p:sldId id="269" r:id="rId12"/>
    <p:sldId id="270" r:id="rId13"/>
    <p:sldId id="271" r:id="rId14"/>
    <p:sldId id="272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7BDC7-E779-4F6A-B105-CADF9DD69BD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FB3D7-132F-403E-8945-34B3D5A28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2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FB3D7-132F-403E-8945-34B3D5A281B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11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2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55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8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01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45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88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0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2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DC86-AB52-4F1E-8759-193D0087A07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0C35D-049A-FA5E-D3AD-113399EE34DB}"/>
              </a:ext>
            </a:extLst>
          </p:cNvPr>
          <p:cNvSpPr txBox="1"/>
          <p:nvPr/>
        </p:nvSpPr>
        <p:spPr>
          <a:xfrm>
            <a:off x="1314951" y="204041"/>
            <a:ext cx="218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Research Question</a:t>
            </a:r>
            <a:endParaRPr lang="en-GB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1BF1C1E-DD9D-570E-143A-1BFF7E9F5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4951" y="754285"/>
            <a:ext cx="9785685" cy="978205"/>
          </a:xfrm>
        </p:spPr>
        <p:txBody>
          <a:bodyPr>
            <a:normAutofit/>
          </a:bodyPr>
          <a:lstStyle/>
          <a:p>
            <a:pPr algn="just">
              <a:lnSpc>
                <a:spcPts val="2400"/>
              </a:lnSpc>
            </a:pPr>
            <a:r>
              <a:rPr lang="en-US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WIMD 2025 adequately capture rural deprivation</a:t>
            </a:r>
            <a:endParaRPr lang="en-US" b="1" dirty="0"/>
          </a:p>
          <a:p>
            <a:pPr algn="just">
              <a:lnSpc>
                <a:spcPts val="2400"/>
              </a:lnSpc>
            </a:pPr>
            <a:r>
              <a:rPr lang="en-US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Wales, and what does that mean for rural-proofing policy?</a:t>
            </a:r>
            <a:endParaRPr lang="en-US" sz="2300" b="1" dirty="0"/>
          </a:p>
          <a:p>
            <a:pPr algn="just"/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A007F-701F-8325-2FD3-DFA1EA67B9D9}"/>
              </a:ext>
            </a:extLst>
          </p:cNvPr>
          <p:cNvSpPr txBox="1"/>
          <p:nvPr/>
        </p:nvSpPr>
        <p:spPr>
          <a:xfrm>
            <a:off x="481261" y="5683486"/>
            <a:ext cx="5823284" cy="923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Anisha Bhattarai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Health Data Science, </a:t>
            </a: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Aberdeen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Health Compass Placement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40E6108-A32D-1758-0498-3FDC9ACD7A9B}"/>
              </a:ext>
            </a:extLst>
          </p:cNvPr>
          <p:cNvSpPr/>
          <p:nvPr/>
        </p:nvSpPr>
        <p:spPr>
          <a:xfrm>
            <a:off x="593557" y="2931287"/>
            <a:ext cx="11004885" cy="1357684"/>
          </a:xfrm>
          <a:prstGeom prst="roundRect">
            <a:avLst>
              <a:gd name="adj" fmla="val 6087"/>
            </a:avLst>
          </a:prstGeom>
          <a:solidFill>
            <a:srgbClr val="EDF4FB"/>
          </a:solidFill>
          <a:ln w="12700">
            <a:solidFill>
              <a:srgbClr val="C8DCF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WIMD 2025 is official Welsh Government statistics. This work does not question the accuracy of the underlying data. It examines a design choice within the methodology This presentation explores how the eight WIMD domains are weighted, and what that design choice means for how rural deprivation is seen.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GB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65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1FE7-28BD-63C7-0A70-402E221A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Welsh Index of Multiple Deprivation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C2884-E650-B5E9-324A-35826397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WIMD is a official statistics used by Welsh Government for policy and funding</a:t>
            </a:r>
          </a:p>
          <a:p>
            <a:r>
              <a:rPr lang="en-US" sz="2600" dirty="0"/>
              <a:t>It ranks all 1917 small areas(LSOAs</a:t>
            </a:r>
            <a:r>
              <a:rPr lang="da-DK" sz="2600" dirty="0"/>
              <a:t>)</a:t>
            </a:r>
            <a:r>
              <a:rPr lang="en-US" sz="2600" dirty="0"/>
              <a:t> in </a:t>
            </a:r>
            <a:r>
              <a:rPr lang="en-US" sz="2600" dirty="0" err="1"/>
              <a:t>wales</a:t>
            </a:r>
            <a:r>
              <a:rPr lang="en-US" sz="2600" dirty="0"/>
              <a:t> from 1 (most deprived) to 1917 (least deprived)</a:t>
            </a:r>
          </a:p>
          <a:p>
            <a:r>
              <a:rPr lang="en-US" sz="2600" dirty="0"/>
              <a:t>It combines 8 domains , each measures different deprivation and has fixed weight which is share of final score or rank </a:t>
            </a:r>
          </a:p>
          <a:p>
            <a:r>
              <a:rPr lang="en-US" sz="2600" dirty="0"/>
              <a:t>A domain rank only moves overall rank in proportion to its weight this is the mechanism this presentation examines</a:t>
            </a:r>
          </a:p>
          <a:p>
            <a:r>
              <a:rPr lang="en-US" sz="2600" dirty="0">
                <a:solidFill>
                  <a:srgbClr val="1A252F"/>
                </a:solidFill>
                <a:ea typeface="Arial" pitchFamily="34" charset="-122"/>
                <a:cs typeface="Arial" pitchFamily="34" charset="-120"/>
              </a:rPr>
              <a:t>Four dataset used for research </a:t>
            </a:r>
            <a:r>
              <a:rPr lang="da-DK" sz="2600" dirty="0">
                <a:solidFill>
                  <a:srgbClr val="1A252F"/>
                </a:solidFill>
                <a:ea typeface="Arial" pitchFamily="34" charset="-122"/>
                <a:cs typeface="Arial" pitchFamily="34" charset="-120"/>
              </a:rPr>
              <a:t>:</a:t>
            </a:r>
            <a:r>
              <a:rPr lang="en-US" sz="2600" dirty="0">
                <a:solidFill>
                  <a:srgbClr val="1A252F"/>
                </a:solidFill>
                <a:ea typeface="Arial" pitchFamily="34" charset="-122"/>
                <a:cs typeface="Arial" pitchFamily="34" charset="-120"/>
              </a:rPr>
              <a:t>WIMD 2025 Ranks &amp; Scores,  Deep-Rooted Deprivation (2005–2025),  ONS Rural-Urban Classification 2021</a:t>
            </a:r>
            <a:endParaRPr lang="en-US" sz="2600" dirty="0"/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77848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391DD-DA5A-F5DD-E0CF-3BE379A9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research question to analysis</a:t>
            </a: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E0B48-1994-05C2-7847-6501D4B4E438}"/>
              </a:ext>
            </a:extLst>
          </p:cNvPr>
          <p:cNvSpPr txBox="1"/>
          <p:nvPr/>
        </p:nvSpPr>
        <p:spPr>
          <a:xfrm>
            <a:off x="962526" y="1690688"/>
            <a:ext cx="296908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a-DK" sz="2000" b="1" dirty="0"/>
              <a:t>Domain comparision</a:t>
            </a:r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r>
              <a:rPr lang="da-DK" sz="2000" b="1" dirty="0"/>
              <a:t>Weight- gap analysis</a:t>
            </a:r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r>
              <a:rPr lang="da-DK" sz="2000" b="1" dirty="0"/>
              <a:t>20 years tracking</a:t>
            </a:r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endParaRPr lang="da-DK" sz="2000" b="1" dirty="0"/>
          </a:p>
          <a:p>
            <a:pPr marL="342900" indent="-342900">
              <a:buAutoNum type="arabicPeriod"/>
            </a:pPr>
            <a:r>
              <a:rPr lang="da-DK" sz="2000" b="1" dirty="0"/>
              <a:t>Case study</a:t>
            </a:r>
            <a:endParaRPr lang="en-GB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7F080-9EFE-89D8-DC71-DCD497EF3EAE}"/>
              </a:ext>
            </a:extLst>
          </p:cNvPr>
          <p:cNvSpPr txBox="1"/>
          <p:nvPr/>
        </p:nvSpPr>
        <p:spPr>
          <a:xfrm>
            <a:off x="4633694" y="1690688"/>
            <a:ext cx="7325082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Compare rural vs urban LSOAs across 8 domain</a:t>
            </a:r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r>
              <a:rPr lang="da-DK" sz="2000" dirty="0"/>
              <a:t>Each domain weight mapping  against group rank worse on it</a:t>
            </a:r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r>
              <a:rPr lang="da-DK" sz="2000" dirty="0"/>
              <a:t>Check rural areas ever appear in persistent deprivation list</a:t>
            </a:r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r>
              <a:rPr lang="en-GB" sz="2000" dirty="0"/>
              <a:t>Test pattern in local authority as well in one authority(Ceredigion)</a:t>
            </a:r>
          </a:p>
        </p:txBody>
      </p:sp>
    </p:spTree>
    <p:extLst>
      <p:ext uri="{BB962C8B-B14F-4D97-AF65-F5344CB8AC3E}">
        <p14:creationId xmlns:p14="http://schemas.microsoft.com/office/powerpoint/2010/main" val="241570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6E3F0-CFAA-D667-1410-437767DB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97" y="418881"/>
            <a:ext cx="9980023" cy="587741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C7E3AF9-F7D4-1DB4-8DA9-DC74776F78AE}"/>
              </a:ext>
            </a:extLst>
          </p:cNvPr>
          <p:cNvSpPr/>
          <p:nvPr/>
        </p:nvSpPr>
        <p:spPr>
          <a:xfrm>
            <a:off x="288757" y="36576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COMPARISON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2913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223D14-9986-DFD9-0C16-8719D83734C0}"/>
              </a:ext>
            </a:extLst>
          </p:cNvPr>
          <p:cNvSpPr txBox="1"/>
          <p:nvPr/>
        </p:nvSpPr>
        <p:spPr>
          <a:xfrm>
            <a:off x="275208" y="1162739"/>
            <a:ext cx="225337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/>
              <a:t>All 8 domain by weight</a:t>
            </a:r>
          </a:p>
          <a:p>
            <a:endParaRPr lang="da-DK" sz="1600" b="1" dirty="0"/>
          </a:p>
          <a:p>
            <a:r>
              <a:rPr lang="da-DK" sz="1600" b="1" dirty="0"/>
              <a:t>Income-22%</a:t>
            </a:r>
          </a:p>
          <a:p>
            <a:endParaRPr lang="da-DK" sz="1600" b="1" dirty="0"/>
          </a:p>
          <a:p>
            <a:r>
              <a:rPr lang="da-DK" sz="1600" b="1" dirty="0"/>
              <a:t>Employment- 20%</a:t>
            </a:r>
          </a:p>
          <a:p>
            <a:endParaRPr lang="da-DK" sz="1600" b="1" dirty="0"/>
          </a:p>
          <a:p>
            <a:r>
              <a:rPr lang="da-DK" sz="1600" b="1" dirty="0"/>
              <a:t>Health- 15%</a:t>
            </a:r>
          </a:p>
          <a:p>
            <a:endParaRPr lang="da-DK" sz="1600" b="1" dirty="0"/>
          </a:p>
          <a:p>
            <a:r>
              <a:rPr lang="da-DK" sz="1600" b="1" dirty="0"/>
              <a:t>Education-14%</a:t>
            </a:r>
          </a:p>
          <a:p>
            <a:endParaRPr lang="da-DK" sz="1600" b="1" dirty="0"/>
          </a:p>
          <a:p>
            <a:r>
              <a:rPr lang="da-DK" sz="1600" b="1" dirty="0"/>
              <a:t>Access- 10%</a:t>
            </a:r>
          </a:p>
          <a:p>
            <a:endParaRPr lang="da-DK" sz="1600" b="1" dirty="0"/>
          </a:p>
          <a:p>
            <a:r>
              <a:rPr lang="da-DK" sz="1600" b="1" dirty="0"/>
              <a:t>Housing- 9%</a:t>
            </a:r>
          </a:p>
          <a:p>
            <a:endParaRPr lang="da-DK" sz="1600" b="1" dirty="0"/>
          </a:p>
          <a:p>
            <a:r>
              <a:rPr lang="da-DK" sz="1600" b="1" dirty="0"/>
              <a:t>Safety- 5%</a:t>
            </a:r>
          </a:p>
          <a:p>
            <a:endParaRPr lang="da-DK" sz="1600" b="1" dirty="0"/>
          </a:p>
          <a:p>
            <a:r>
              <a:rPr lang="da-DK" sz="1600" b="1" dirty="0"/>
              <a:t>Physical Env. – 5%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4C52C-E78B-DF4A-4352-0F12E4E4BE9F}"/>
              </a:ext>
            </a:extLst>
          </p:cNvPr>
          <p:cNvSpPr txBox="1"/>
          <p:nvPr/>
        </p:nvSpPr>
        <p:spPr>
          <a:xfrm>
            <a:off x="2151940" y="1663388"/>
            <a:ext cx="161416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endParaRPr lang="da-DK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endParaRPr lang="da-DK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endParaRPr lang="da-DK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r>
              <a:rPr lang="da-DK" sz="1600" b="1" dirty="0"/>
              <a:t>’</a:t>
            </a:r>
          </a:p>
          <a:p>
            <a:r>
              <a:rPr lang="da-DK" sz="1600" b="1" dirty="0">
                <a:solidFill>
                  <a:srgbClr val="C00000"/>
                </a:solidFill>
              </a:rPr>
              <a:t>Rural deprived</a:t>
            </a:r>
          </a:p>
          <a:p>
            <a:endParaRPr lang="da-DK" sz="1600" b="1" dirty="0">
              <a:solidFill>
                <a:srgbClr val="C00000"/>
              </a:solidFill>
            </a:endParaRPr>
          </a:p>
          <a:p>
            <a:r>
              <a:rPr lang="da-DK" sz="1600" b="1" dirty="0">
                <a:solidFill>
                  <a:srgbClr val="C00000"/>
                </a:solidFill>
              </a:rPr>
              <a:t>Rural deprived</a:t>
            </a:r>
          </a:p>
          <a:p>
            <a:endParaRPr lang="da-DK" sz="1600" b="1" dirty="0">
              <a:solidFill>
                <a:srgbClr val="C00000"/>
              </a:solidFill>
            </a:endParaRPr>
          </a:p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endParaRPr lang="da-DK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da-DK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Urban deprived</a:t>
            </a:r>
          </a:p>
          <a:p>
            <a:endParaRPr lang="en-GB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271B20-49E0-3943-3A27-C5494B621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688" y="1162738"/>
            <a:ext cx="8034370" cy="4933261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34E3152-2F0D-F767-E4C8-3F5FC37F4CF4}"/>
              </a:ext>
            </a:extLst>
          </p:cNvPr>
          <p:cNvSpPr/>
          <p:nvPr/>
        </p:nvSpPr>
        <p:spPr>
          <a:xfrm>
            <a:off x="428541" y="134547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WEIGHT- GAP ANALYSIS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5207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44868-ADEA-5121-6813-2823A570D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9" y="644434"/>
            <a:ext cx="10161508" cy="529938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F95B9F4-FCCE-AA6A-15EA-8A372D388609}"/>
              </a:ext>
            </a:extLst>
          </p:cNvPr>
          <p:cNvSpPr/>
          <p:nvPr/>
        </p:nvSpPr>
        <p:spPr>
          <a:xfrm>
            <a:off x="428541" y="134547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WEIGHT- GAP ANALYSIS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54970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4145A-A6EF-0A0F-93E6-683313596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5" y="842211"/>
            <a:ext cx="10485119" cy="5667446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550ED5D-91EB-CFBD-3DAD-E20206D56FB3}"/>
              </a:ext>
            </a:extLst>
          </p:cNvPr>
          <p:cNvSpPr/>
          <p:nvPr/>
        </p:nvSpPr>
        <p:spPr>
          <a:xfrm>
            <a:off x="370115" y="0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WEIGHT- GAP ANALYSIS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E37B9-9B94-5F50-1E85-CFECC555F713}"/>
              </a:ext>
            </a:extLst>
          </p:cNvPr>
          <p:cNvSpPr txBox="1"/>
          <p:nvPr/>
        </p:nvSpPr>
        <p:spPr>
          <a:xfrm>
            <a:off x="4095750" y="166591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800" b="1" dirty="0"/>
              <a:t>What it costs: 189 invisible communities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28139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5FF1D4-E635-02A2-80C6-DBC9E1F0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89" y="662735"/>
            <a:ext cx="10119360" cy="5532529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8C5ED94-1FB9-7445-C183-CEC4BE77B996}"/>
              </a:ext>
            </a:extLst>
          </p:cNvPr>
          <p:cNvSpPr/>
          <p:nvPr/>
        </p:nvSpPr>
        <p:spPr>
          <a:xfrm>
            <a:off x="277871" y="36576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20- YEAR TREND ANALYSIS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D59FDA44-04EA-99AB-E2DE-6DDFB9FE604F}"/>
              </a:ext>
            </a:extLst>
          </p:cNvPr>
          <p:cNvSpPr/>
          <p:nvPr/>
        </p:nvSpPr>
        <p:spPr>
          <a:xfrm>
            <a:off x="3997233" y="51381"/>
            <a:ext cx="6779623" cy="63137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WIMD PUBLISHED( DRD 2005-2025) :  2005   ·   2008   ·   2011   ·   2014   ·   2019   ·   2025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2169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1E2517-A0A4-D639-886A-F02632078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26" y="643466"/>
            <a:ext cx="10572205" cy="587925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EBCFD85-A3F2-C05B-9C08-8304A054D48A}"/>
              </a:ext>
            </a:extLst>
          </p:cNvPr>
          <p:cNvSpPr/>
          <p:nvPr/>
        </p:nvSpPr>
        <p:spPr>
          <a:xfrm>
            <a:off x="428541" y="134547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CASE STUDY 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71297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9A83354-F062-3181-96E4-669C2275071E}"/>
              </a:ext>
            </a:extLst>
          </p:cNvPr>
          <p:cNvSpPr/>
          <p:nvPr/>
        </p:nvSpPr>
        <p:spPr>
          <a:xfrm>
            <a:off x="288757" y="36576"/>
            <a:ext cx="3337559" cy="4336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CASE STUDY</a:t>
            </a:r>
            <a:endParaRPr lang="en-US" dirty="0"/>
          </a:p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D9E8DD-83C9-CF72-015C-B68BE7BCA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7" y="753979"/>
            <a:ext cx="11004885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7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E3B4-2EB4-7C4E-5FAA-1A179F83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b="1" dirty="0"/>
              <a:t>Limitation</a:t>
            </a:r>
            <a:r>
              <a:rPr lang="da-DK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EF4E5-A1C1-5D20-E2DE-D8D26FFE5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da-DK" dirty="0"/>
          </a:p>
          <a:p>
            <a:r>
              <a:rPr lang="da-DK" dirty="0"/>
              <a:t>Rural urban classification uses  ONS RUC 2021 categories – small number of LSOAs sits close to the rural/urban boundary and are sensitive to how they are classified</a:t>
            </a:r>
          </a:p>
          <a:p>
            <a:r>
              <a:rPr lang="da-DK" dirty="0"/>
              <a:t>The invisible communities(189) depend on whether worst 10%/ worst 20% threshold are set , pattern hold at neighbouring threshold but exact count moves</a:t>
            </a:r>
          </a:p>
          <a:p>
            <a:r>
              <a:rPr lang="da-DK" dirty="0"/>
              <a:t>Some historical WIMD column(2005- 2025) contains gaps for LSOAs  that have since been redrawn, limiting how far back 20 years tracking comparision can be taken with full confidence</a:t>
            </a:r>
          </a:p>
          <a:p>
            <a:r>
              <a:rPr lang="da-DK" dirty="0"/>
              <a:t>This analysis is descriptive and comparative- it identifies pattern of the weighting not causal test of policy impact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953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DFE4-BC9B-B3B0-8FB4-76FAE24E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b="1" dirty="0"/>
              <a:t>What this analysis does- and doesnot- say about WIMD</a:t>
            </a:r>
            <a:endParaRPr lang="en-GB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D36A-FF9F-4B6B-FC89-6CA09C7D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2589"/>
            <a:ext cx="10515600" cy="2904374"/>
          </a:xfrm>
        </p:spPr>
        <p:txBody>
          <a:bodyPr>
            <a:normAutofit fontScale="85000" lnSpcReduction="20000"/>
          </a:bodyPr>
          <a:lstStyle/>
          <a:p>
            <a:r>
              <a:rPr lang="da-DK" dirty="0"/>
              <a:t>This findings concern how validated domain data are COMBINED in one weight score- a question of statistical design, not data quality</a:t>
            </a:r>
          </a:p>
          <a:p>
            <a:r>
              <a:rPr lang="da-DK" dirty="0"/>
              <a:t>The health- access correlation(r=-0.443) is consistent with under-recording in remote areas, but data cannot confirm why health of rural areas is well </a:t>
            </a:r>
          </a:p>
          <a:p>
            <a:r>
              <a:rPr lang="da-DK" dirty="0"/>
              <a:t>WIMD remain best multi-domain measure for deprivation in wales, our recommendation to supplement it for rural policy not to replace it</a:t>
            </a:r>
          </a:p>
          <a:p>
            <a:r>
              <a:rPr lang="da-DK" dirty="0"/>
              <a:t>This analysis cannot say whether reweighting domains would have unintended effect on urban deprivation targeting that requires further modeling beyond this project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06F26-2D48-C74B-5AF7-F4814177E96B}"/>
              </a:ext>
            </a:extLst>
          </p:cNvPr>
          <p:cNvSpPr txBox="1"/>
          <p:nvPr/>
        </p:nvSpPr>
        <p:spPr>
          <a:xfrm>
            <a:off x="1090863" y="2005263"/>
            <a:ext cx="10066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rgbClr val="C00000"/>
                </a:solidFill>
              </a:rPr>
              <a:t>This analysis doesnot question accuracy of WIMD’s underlying domain data. WIMD DOMAIN rank are official goverment statistics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20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9AC5-9DC6-CEF3-B76D-3E29C95B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b="1" dirty="0"/>
              <a:t>What analysis means for rural proofing policy</a:t>
            </a:r>
            <a:endParaRPr lang="en-GB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AF3C-4F02-7826-4F2E-17A33BBE3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Use domain level ranks alongside the overall WIMD rank when funding or service decision made</a:t>
            </a:r>
          </a:p>
          <a:p>
            <a:r>
              <a:rPr lang="da-DK" dirty="0"/>
              <a:t>Consider whether access and housing weights reflect true impact on rural quality of life, alongside existing evidence base to set them</a:t>
            </a:r>
          </a:p>
          <a:p>
            <a:r>
              <a:rPr lang="da-DK" dirty="0"/>
              <a:t>Use the 189 communities as starting point for targeted rural service review</a:t>
            </a:r>
          </a:p>
          <a:p>
            <a:r>
              <a:rPr lang="da-DK" dirty="0"/>
              <a:t>Apply rural lens check to any policy that solely depend on the overall WIMD rank</a:t>
            </a:r>
          </a:p>
          <a:p>
            <a:r>
              <a:rPr lang="da-DK" dirty="0"/>
              <a:t>Report at small area level within local authorities , so town good access doesnot average away a rural poor access( as seen in Ceredigion)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49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5574-FC60-0958-350C-1A086E5B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b="1" dirty="0"/>
              <a:t>Question raised by this project</a:t>
            </a:r>
            <a:endParaRPr lang="en-GB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5C37C-11EA-0320-3A3B-652BE74CF52C}"/>
              </a:ext>
            </a:extLst>
          </p:cNvPr>
          <p:cNvSpPr txBox="1"/>
          <p:nvPr/>
        </p:nvSpPr>
        <p:spPr>
          <a:xfrm>
            <a:off x="1058778" y="2274838"/>
            <a:ext cx="89835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rgbClr val="C00000"/>
                </a:solidFill>
              </a:rPr>
              <a:t>WIMD isnot wrong – it is doing exactly its weight were designed to do. </a:t>
            </a:r>
          </a:p>
          <a:p>
            <a:r>
              <a:rPr lang="da-DK" sz="2400" dirty="0"/>
              <a:t>Does those weights still reflect what rural communities need policy to see?</a:t>
            </a:r>
            <a:endParaRPr lang="en-GB" sz="2400" dirty="0"/>
          </a:p>
          <a:p>
            <a:endParaRPr lang="da-DK" sz="2400" dirty="0">
              <a:solidFill>
                <a:srgbClr val="FF0000"/>
              </a:solidFill>
            </a:endParaRPr>
          </a:p>
          <a:p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4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80E584-C4BA-D766-1FE8-ACD70E6169C5}"/>
              </a:ext>
            </a:extLst>
          </p:cNvPr>
          <p:cNvSpPr/>
          <p:nvPr/>
        </p:nvSpPr>
        <p:spPr>
          <a:xfrm>
            <a:off x="4414449" y="2967335"/>
            <a:ext cx="33631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941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671</TotalTime>
  <Words>699</Words>
  <Application>Microsoft Office PowerPoint</Application>
  <PresentationFormat>Widescreen</PresentationFormat>
  <Paragraphs>111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Welsh Index of Multiple Deprivation</vt:lpstr>
      <vt:lpstr>From research question to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 </vt:lpstr>
      <vt:lpstr>What this analysis does- and doesnot- say about WIMD</vt:lpstr>
      <vt:lpstr>What analysis means for rural proofing policy</vt:lpstr>
      <vt:lpstr>Question raised by this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BHATTARAI, ANISHA (PGT)</dc:creator>
  <cp:lastModifiedBy>BHATTARAI, ANISHA (PGT)</cp:lastModifiedBy>
  <cp:revision>35</cp:revision>
  <dcterms:created xsi:type="dcterms:W3CDTF">2026-07-20T00:33:05Z</dcterms:created>
  <dcterms:modified xsi:type="dcterms:W3CDTF">2026-08-10T18:41:52Z</dcterms:modified>
</cp:coreProperties>
</file>
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6779-6CD0-01F9-B863-7B5EA3B58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769A8-AF86-68CC-F302-FE84D5D38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08C1E-CE17-18F8-DDC0-2224286B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266CA-2355-44E0-7E2E-0CFD07A8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FA8D9-6E62-183C-C141-EE0C1B30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61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47B4-8EED-A59B-157D-DEA9F5CB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CB5D-8D9D-F9C9-497E-9AD88583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DA77-0D00-1D24-CC20-75F822D4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45382-98D9-07BC-B834-B4781FAF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B3126-6B13-8250-8803-06CF18D6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7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D2AA-1F89-2252-82AC-8B93C89E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CC2BF-01D9-44DC-FEB8-7E91A7871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E868-B7C2-E401-D05E-CE527F1B6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53BE0-3A8F-C838-71FA-8308C240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072E-1EEF-B744-BFCA-8DA08FF3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25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926E-9425-53C0-CAC0-8D8C531B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58-4624-EB7E-0B99-3734C7091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B7023-4B1D-28B8-B01A-F50B9FBDB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8ECDD-00BF-AD92-45CB-E891257F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21EA5-614E-E4C1-D6A5-9683FAC4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89CC8-4222-5F53-2C04-E4112769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02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4027-5486-7491-33E2-45648078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8463C-94B6-F320-9D7E-64E5E4938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ECDD5-E7CE-3B2F-0FBA-DE6E6AC37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85C84-84A3-3483-7464-DD7EFCDE9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45841-B2BF-34A4-C568-A56F058D5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0AEA3-1AAB-DB06-C8AC-0CDDF8FF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6361B-DBE6-001B-471B-8DC56CF9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DAA34-90EB-B4F8-DA1F-3CEE1DF2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23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6996-5D52-5242-1F8F-F3E89291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03692-C94D-D578-9925-C45583C5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4D0F2-779D-953F-E3E6-CB468BF2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5083C-A1FA-35F4-5EDA-B23732C5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2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A29DF-01FD-5CE6-3CC4-0F45BB02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DEAD3-7231-D7BF-4F3A-06E98380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78B3-BFEE-56BC-6655-79C9503A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9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5640-8764-30C4-A85D-56992296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C948-D7A3-E89B-4108-51FFB3AA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FE173-20F6-44D9-C9E0-0ED99602B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66B9-D8C2-6B89-960B-88D5CCB9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DF20B-4BD4-008C-3884-10ABB2AA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A423C-6BF3-C868-5BF0-B48B9478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1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D519-EF92-30A8-6416-91EC55B8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6D8C1-C8EE-3F3C-D57F-DF70E9B8D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0C601-F044-9618-7E02-09E0B2424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21489-052B-B3AB-E8F1-998E9365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8599F-C59E-374E-9B7F-CDBC392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0ED-3B2B-C964-103C-F9BE91F8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9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424E-8E77-7663-DBAF-53EC3996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A61F5-5593-3F53-6F13-A1A1A337A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B48A5-A8B8-80F5-3FA6-D67FF3D7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84D4D-9083-85A3-52D8-B85BCDC9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362F7-B559-E631-7DE9-58CB20D1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6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67579-B92F-5857-F634-B12DF1A2E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A04FB-78BE-1A34-BF8B-89F5DF73A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41D8-F3FB-2C39-1EDF-09FBF656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6ABE5-CCED-98FC-DB9F-5A7E06F5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CE680-CA11-BD01-B108-9369E11D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06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C6CD9-6F72-C2CC-6229-EF18C5E2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8BB41-C2DD-DBAC-4DBF-CEFBA50D9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D791A-15A9-F737-EF5A-2ED129136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DC86-AB52-4F1E-8759-193D0087A07D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1C90D-3472-884E-A6EB-F1FE01A2C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DE5CC-4FA3-FEBF-D793-BFFF57FD4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BC96B-E73D-4E25-B651-4E41759D6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24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D69A-A50F-2BC0-442C-A9FC5A9EE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65221"/>
            <a:ext cx="11502189" cy="3044742"/>
          </a:xfrm>
        </p:spPr>
        <p:txBody>
          <a:bodyPr>
            <a:normAutofit/>
          </a:bodyPr>
          <a:lstStyle/>
          <a:p>
            <a:pPr marL="0" indent="0">
              <a:lnSpc>
                <a:spcPts val="2400"/>
              </a:lnSpc>
            </a:pPr>
            <a:r>
              <a:rPr lang="en-US" sz="240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WIMD 2025 adequately capture rural deprivation</a:t>
            </a:r>
            <a:br>
              <a:rPr lang="en-US" sz="2400" dirty="0"/>
            </a:br>
            <a:r>
              <a:rPr lang="en-US" sz="240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Wales and what are the implications for rural-proofing policy?</a:t>
            </a:r>
            <a:br>
              <a:rPr lang="en-US" sz="2400" dirty="0"/>
            </a:br>
            <a:endParaRPr lang="en-GB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F1C1E-DD9D-570E-143A-1BFF7E9F5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500"/>
              </a:spcAft>
            </a:pPr>
            <a:r>
              <a:rPr lang="en-US" sz="230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Methods:</a:t>
            </a:r>
          </a:p>
          <a:p>
            <a:pPr algn="l">
              <a:spcAft>
                <a:spcPts val="500"/>
              </a:spcAft>
            </a:pPr>
            <a:r>
              <a:rPr lang="en-US" sz="230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1,917 Welsh LSOAs  ·  WIMD 2025 Ranks, Scores, Deep-Rooted Deprivation, ONS RUC 2021</a:t>
            </a:r>
            <a:endParaRPr lang="en-US" sz="2300" dirty="0"/>
          </a:p>
          <a:p>
            <a:pPr algn="l">
              <a:spcAft>
                <a:spcPts val="500"/>
              </a:spcAft>
            </a:pPr>
            <a:endParaRPr lang="en-US" sz="23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65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37B85-A1FC-8670-AB42-93E826832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68"/>
          <a:stretch>
            <a:fillRect/>
          </a:stretch>
        </p:blipFill>
        <p:spPr>
          <a:xfrm>
            <a:off x="353785" y="91450"/>
            <a:ext cx="10995660" cy="333755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4F22-F542-BE31-6B50-9ADD70573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696" y="3520440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19% 							81%</a:t>
            </a:r>
          </a:p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Rural-worse domains				Urban-worse domains			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Access (10%) + Housing (9%)			 Income · Employment · Health                                                                                                    					Education · Safety · Env.</a:t>
            </a:r>
            <a:endParaRPr lang="en-US" sz="1500" dirty="0"/>
          </a:p>
          <a:p>
            <a:pPr marL="0" indent="0">
              <a:buNone/>
            </a:pPr>
            <a:endParaRPr lang="en-US" sz="15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Rural areas score worst on the lowest-weighted domains.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weighting structure — not deprivation — decides who appears in the ranking.</a:t>
            </a:r>
            <a:endParaRPr lang="en-US" sz="1500" dirty="0"/>
          </a:p>
          <a:p>
            <a:endParaRPr lang="en-US" sz="1500" dirty="0"/>
          </a:p>
          <a:p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5207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F3DF-7CA5-3330-84EF-5DE00B7F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areas dominate the access domain. Urban areas dominate income.</a:t>
            </a:r>
            <a:br>
              <a:rPr lang="en-US" sz="2800" dirty="0"/>
            </a:br>
            <a:endParaRPr lang="en-GB" sz="2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82E41F5-EFC0-6F7E-81F1-330E120CA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137" y="1576251"/>
            <a:ext cx="5823600" cy="47722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CA1327-0116-CD2B-79A6-5390B70C088B}"/>
              </a:ext>
            </a:extLst>
          </p:cNvPr>
          <p:cNvSpPr txBox="1"/>
          <p:nvPr/>
        </p:nvSpPr>
        <p:spPr>
          <a:xfrm>
            <a:off x="640336" y="1890272"/>
            <a:ext cx="2489627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of 50</a:t>
            </a:r>
            <a:endParaRPr lang="en-US" dirty="0"/>
          </a:p>
          <a:p>
            <a:pPr>
              <a:lnSpc>
                <a:spcPts val="1500"/>
              </a:lnSpc>
            </a:pPr>
            <a:endParaRPr lang="en-US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access-deprived areas are Rural</a:t>
            </a:r>
            <a:endParaRPr lang="en-US" sz="1600" dirty="0"/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(access = 10% of WIMD score)</a:t>
            </a:r>
            <a:endParaRPr lang="en-US" sz="1600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A8700-50F1-1D12-527F-0BC730828EBC}"/>
              </a:ext>
            </a:extLst>
          </p:cNvPr>
          <p:cNvSpPr txBox="1"/>
          <p:nvPr/>
        </p:nvSpPr>
        <p:spPr>
          <a:xfrm>
            <a:off x="3690898" y="1794091"/>
            <a:ext cx="2405102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50</a:t>
            </a:r>
            <a:endParaRPr lang="en-US" dirty="0"/>
          </a:p>
          <a:p>
            <a:pPr>
              <a:lnSpc>
                <a:spcPts val="1500"/>
              </a:lnSpc>
            </a:pPr>
            <a:endParaRPr lang="en-US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income-deprived areas are urban</a:t>
            </a:r>
            <a:endParaRPr lang="en-US" sz="1600" dirty="0"/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(income = 22% of WIMD score)</a:t>
            </a:r>
            <a:endParaRPr lang="en-US" sz="1600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3E0BF-4933-92E3-7631-35E0207A0B48}"/>
              </a:ext>
            </a:extLst>
          </p:cNvPr>
          <p:cNvSpPr txBox="1"/>
          <p:nvPr/>
        </p:nvSpPr>
        <p:spPr>
          <a:xfrm>
            <a:off x="640336" y="3874722"/>
            <a:ext cx="4863481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endParaRPr lang="en-US" sz="1600" dirty="0"/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deprivation is real but concentrated in the lowest-weighted domain.</a:t>
            </a:r>
            <a:endParaRPr lang="en-US" sz="1600" dirty="0"/>
          </a:p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deprivation dominates the highest-weighted domain.</a:t>
            </a:r>
            <a:endParaRPr lang="en-US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291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DCF-273E-AE25-FF08-A88B0976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deprivation is visible in WIMD. Access deprivation is not.</a:t>
            </a:r>
            <a:br>
              <a:rPr lang="en-US" sz="1800" dirty="0"/>
            </a:br>
            <a:endParaRPr lang="en-GB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F9F292-F24B-FA19-33CC-787367EA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024188"/>
            <a:ext cx="10340340" cy="32623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6402D-1608-6525-F488-59E47A78D125}"/>
              </a:ext>
            </a:extLst>
          </p:cNvPr>
          <p:cNvSpPr txBox="1"/>
          <p:nvPr/>
        </p:nvSpPr>
        <p:spPr>
          <a:xfrm>
            <a:off x="975872" y="1690688"/>
            <a:ext cx="9674199" cy="66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endParaRPr lang="en-US" dirty="0"/>
          </a:p>
          <a:p>
            <a:pPr>
              <a:lnSpc>
                <a:spcPts val="1500"/>
              </a:lnSpc>
            </a:pPr>
            <a:r>
              <a:rPr lang="en-US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 rural areas are severely access-deprived — only 1.3% appear in worst 20% overall.</a:t>
            </a:r>
            <a:endParaRPr lang="en-US" dirty="0"/>
          </a:p>
          <a:p>
            <a:pPr>
              <a:lnSpc>
                <a:spcPts val="1500"/>
              </a:lnSpc>
            </a:pPr>
            <a:r>
              <a:rPr lang="en-US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weighting structure, not the severity of deprivation, decides visibility.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44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1060-B1C7-9DD3-A4AE-558600B1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88977" cy="93102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Ceredigion: 2.2% deprived overall — yet 64.4% worst 20% on access.</a:t>
            </a:r>
            <a:br>
              <a:rPr lang="en-US" sz="2000" dirty="0"/>
            </a:br>
            <a:endParaRPr lang="en-GB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823E4D-8E11-C3CC-F524-67EA4A9B5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" y="2916372"/>
            <a:ext cx="4389120" cy="33701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80DEE9-EEDA-700B-274F-58F3DA8A66D7}"/>
              </a:ext>
            </a:extLst>
          </p:cNvPr>
          <p:cNvSpPr txBox="1"/>
          <p:nvPr/>
        </p:nvSpPr>
        <p:spPr>
          <a:xfrm>
            <a:off x="445675" y="1759644"/>
            <a:ext cx="4994622" cy="115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authority case studies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Ceredigion: 2.2% overall  →  64.4% worst 20% on access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Powys: 6.3% overall  →  63.3% worst 20% on access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communities worst 10% on access — 0% appear in overall worst 20%</a:t>
            </a:r>
            <a:endParaRPr lang="en-US" sz="1050" dirty="0"/>
          </a:p>
          <a:p>
            <a:endParaRPr lang="en-GB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DD031-AB15-6629-3D1F-CF66AA3479B5}"/>
              </a:ext>
            </a:extLst>
          </p:cNvPr>
          <p:cNvSpPr txBox="1"/>
          <p:nvPr/>
        </p:nvSpPr>
        <p:spPr>
          <a:xfrm>
            <a:off x="7123868" y="1406983"/>
            <a:ext cx="4406976" cy="931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20-year tracking (2005–2025)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559 of 561 rural areas NEVER appeared in the 50 most deprived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rural areas worst 20% on BOTH access and housing — 0% visible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A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invisible in WIMD for 20 years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7F8DD7-95CD-5A2E-0EB5-492F5905B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297" y="2285604"/>
            <a:ext cx="6885409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7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324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Does WIMD 2025 adequately capture rural deprivation in Wales and what are the implications for rural-proofing policy? </vt:lpstr>
      <vt:lpstr>PowerPoint Presentation</vt:lpstr>
      <vt:lpstr>Rural areas dominate the access domain. Urban areas dominate income. </vt:lpstr>
      <vt:lpstr>Income deprivation is visible in WIMD. Access deprivation is not. </vt:lpstr>
      <vt:lpstr>Ceredigion: 2.2% deprived overall — yet 64.4% worst 20% on access.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BHATTARAI, ANISHA (PGT)</dc:creator>
  <cp:lastModifiedBy>BHATTARAI, ANISHA (PGT)</cp:lastModifiedBy>
  <cp:revision>4</cp:revision>
  <dcterms:created xsi:type="dcterms:W3CDTF">2026-07-20T00:33:05Z</dcterms:created>
  <dcterms:modified xsi:type="dcterms:W3CDTF">2026-07-20T13:04:33Z</dcterms:modified>
</cp:coreProperties>
</file>